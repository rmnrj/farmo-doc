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79" r:id="rId5"/>
    <p:sldId id="259" r:id="rId6"/>
    <p:sldId id="280" r:id="rId7"/>
    <p:sldId id="261" r:id="rId8"/>
    <p:sldId id="262" r:id="rId9"/>
    <p:sldId id="270" r:id="rId10"/>
    <p:sldId id="263" r:id="rId11"/>
    <p:sldId id="264" r:id="rId12"/>
    <p:sldId id="267" r:id="rId13"/>
    <p:sldId id="268" r:id="rId14"/>
    <p:sldId id="271" r:id="rId15"/>
    <p:sldId id="278" r:id="rId16"/>
    <p:sldId id="275"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1" d="100"/>
          <a:sy n="81" d="100"/>
        </p:scale>
        <p:origin x="75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FEB5DA-128C-4814-89F0-D5D57828877E}"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2868710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FEB5DA-128C-4814-89F0-D5D57828877E}"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3244442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FEB5DA-128C-4814-89F0-D5D57828877E}"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1232609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FEB5DA-128C-4814-89F0-D5D57828877E}"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2706843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FEB5DA-128C-4814-89F0-D5D57828877E}" type="datetimeFigureOut">
              <a:rPr lang="en-US" smtClean="0"/>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2852221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FEB5DA-128C-4814-89F0-D5D57828877E}"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2498871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FEB5DA-128C-4814-89F0-D5D57828877E}" type="datetimeFigureOut">
              <a:rPr lang="en-US" smtClean="0"/>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2993968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FEB5DA-128C-4814-89F0-D5D57828877E}"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2744002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FEB5DA-128C-4814-89F0-D5D57828877E}"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373623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FEB5DA-128C-4814-89F0-D5D57828877E}"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778220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FEB5DA-128C-4814-89F0-D5D57828877E}"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3133686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FEB5DA-128C-4814-89F0-D5D57828877E}"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7C0C48-325F-4B9F-B98C-8339D29224A7}"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771078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FEB5DA-128C-4814-89F0-D5D57828877E}"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3536216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FEB5DA-128C-4814-89F0-D5D57828877E}"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29005676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FEB5DA-128C-4814-89F0-D5D57828877E}"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1407277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FEB5DA-128C-4814-89F0-D5D57828877E}"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3614160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FEB5DA-128C-4814-89F0-D5D57828877E}"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7C0C48-325F-4B9F-B98C-8339D29224A7}" type="slidenum">
              <a:rPr lang="en-US" smtClean="0"/>
              <a:t>‹#›</a:t>
            </a:fld>
            <a:endParaRPr lang="en-US"/>
          </a:p>
        </p:txBody>
      </p:sp>
    </p:spTree>
    <p:extLst>
      <p:ext uri="{BB962C8B-B14F-4D97-AF65-F5344CB8AC3E}">
        <p14:creationId xmlns:p14="http://schemas.microsoft.com/office/powerpoint/2010/main" val="2035487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FEB5DA-128C-4814-89F0-D5D57828877E}" type="datetimeFigureOut">
              <a:rPr lang="en-US" smtClean="0"/>
              <a:t>11/21/2025</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97C0C48-325F-4B9F-B98C-8339D29224A7}" type="slidenum">
              <a:rPr lang="en-US" smtClean="0"/>
              <a:t>‹#›</a:t>
            </a:fld>
            <a:endParaRPr lang="en-US"/>
          </a:p>
        </p:txBody>
      </p:sp>
    </p:spTree>
    <p:extLst>
      <p:ext uri="{BB962C8B-B14F-4D97-AF65-F5344CB8AC3E}">
        <p14:creationId xmlns:p14="http://schemas.microsoft.com/office/powerpoint/2010/main" val="422510455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80E94-7FF6-4109-BC29-BE1E9E1EE8AB}"/>
              </a:ext>
            </a:extLst>
          </p:cNvPr>
          <p:cNvSpPr>
            <a:spLocks noGrp="1"/>
          </p:cNvSpPr>
          <p:nvPr>
            <p:ph type="ctrTitle"/>
          </p:nvPr>
        </p:nvSpPr>
        <p:spPr>
          <a:xfrm>
            <a:off x="1595269" y="609861"/>
            <a:ext cx="9001462" cy="1655763"/>
          </a:xfrm>
        </p:spPr>
        <p:txBody>
          <a:bodyPr/>
          <a:lstStyle/>
          <a:p>
            <a:r>
              <a:rPr lang="en-US" dirty="0"/>
              <a:t>FARMO</a:t>
            </a:r>
          </a:p>
        </p:txBody>
      </p:sp>
      <p:sp>
        <p:nvSpPr>
          <p:cNvPr id="3" name="Subtitle 2">
            <a:extLst>
              <a:ext uri="{FF2B5EF4-FFF2-40B4-BE49-F238E27FC236}">
                <a16:creationId xmlns:a16="http://schemas.microsoft.com/office/drawing/2014/main" id="{CC6EA948-6102-4138-AFB8-DFB09B9CF72B}"/>
              </a:ext>
            </a:extLst>
          </p:cNvPr>
          <p:cNvSpPr>
            <a:spLocks noGrp="1"/>
          </p:cNvSpPr>
          <p:nvPr>
            <p:ph type="subTitle" idx="1"/>
          </p:nvPr>
        </p:nvSpPr>
        <p:spPr>
          <a:xfrm>
            <a:off x="6778698" y="3326615"/>
            <a:ext cx="4091234" cy="2769124"/>
          </a:xfrm>
        </p:spPr>
        <p:txBody>
          <a:bodyPr>
            <a:normAutofit fontScale="92500" lnSpcReduction="10000"/>
          </a:bodyPr>
          <a:lstStyle/>
          <a:p>
            <a:pPr algn="l">
              <a:lnSpc>
                <a:spcPct val="150000"/>
              </a:lnSpc>
            </a:pPr>
            <a:r>
              <a:rPr lang="en-US" sz="3200" b="1" dirty="0"/>
              <a:t>Presented By</a:t>
            </a:r>
            <a:r>
              <a:rPr lang="en-US" b="1" dirty="0"/>
              <a:t>:</a:t>
            </a:r>
          </a:p>
          <a:p>
            <a:pPr algn="l" fontAlgn="base">
              <a:lnSpc>
                <a:spcPct val="150000"/>
              </a:lnSpc>
              <a:spcBef>
                <a:spcPts val="0"/>
              </a:spcBef>
            </a:pPr>
            <a:r>
              <a:rPr lang="en-US" dirty="0">
                <a:effectLst/>
                <a:ea typeface="SimSun" panose="02010600030101010101" pitchFamily="2" charset="-122"/>
              </a:rPr>
              <a:t>Rabin Dangaura  (21075077)</a:t>
            </a:r>
            <a:endParaRPr lang="en-US" dirty="0">
              <a:effectLst/>
              <a:ea typeface="Times New Roman" panose="02020603050405020304" pitchFamily="18" charset="0"/>
            </a:endParaRPr>
          </a:p>
          <a:p>
            <a:pPr algn="l" fontAlgn="base">
              <a:lnSpc>
                <a:spcPct val="150000"/>
              </a:lnSpc>
              <a:spcBef>
                <a:spcPts val="0"/>
              </a:spcBef>
            </a:pPr>
            <a:r>
              <a:rPr lang="en-US" dirty="0">
                <a:effectLst/>
                <a:ea typeface="SimSun" panose="02010600030101010101" pitchFamily="2" charset="-122"/>
              </a:rPr>
              <a:t>Raman Chaudhary (21075079)</a:t>
            </a:r>
            <a:endParaRPr lang="en-US" dirty="0">
              <a:effectLst/>
              <a:ea typeface="Times New Roman" panose="02020603050405020304" pitchFamily="18" charset="0"/>
            </a:endParaRPr>
          </a:p>
          <a:p>
            <a:pPr algn="l" fontAlgn="base">
              <a:lnSpc>
                <a:spcPct val="150000"/>
              </a:lnSpc>
              <a:spcBef>
                <a:spcPts val="0"/>
              </a:spcBef>
            </a:pPr>
            <a:r>
              <a:rPr lang="en-US" dirty="0">
                <a:effectLst/>
                <a:ea typeface="SimSun" panose="02010600030101010101" pitchFamily="2" charset="-122"/>
              </a:rPr>
              <a:t>Rohit Chaudhary (21075080)</a:t>
            </a:r>
            <a:endParaRPr lang="en-US" dirty="0">
              <a:effectLst/>
              <a:ea typeface="Times New Roman" panose="02020603050405020304" pitchFamily="18" charset="0"/>
            </a:endParaRPr>
          </a:p>
          <a:p>
            <a:pPr algn="l" fontAlgn="base">
              <a:lnSpc>
                <a:spcPct val="150000"/>
              </a:lnSpc>
              <a:spcBef>
                <a:spcPts val="0"/>
              </a:spcBef>
            </a:pPr>
            <a:r>
              <a:rPr lang="en-US" dirty="0">
                <a:effectLst/>
                <a:ea typeface="SimSun" panose="02010600030101010101" pitchFamily="2" charset="-122"/>
              </a:rPr>
              <a:t>Sushil Chaudhary (21075088)</a:t>
            </a:r>
            <a:endParaRPr lang="en-US" dirty="0">
              <a:effectLst/>
              <a:ea typeface="Times New Roman" panose="02020603050405020304" pitchFamily="18" charset="0"/>
            </a:endParaRPr>
          </a:p>
          <a:p>
            <a:pPr algn="l"/>
            <a:endParaRPr lang="en-US" dirty="0"/>
          </a:p>
          <a:p>
            <a:pPr algn="l"/>
            <a:endParaRPr lang="en-US" dirty="0"/>
          </a:p>
          <a:p>
            <a:pPr algn="l"/>
            <a:endParaRPr lang="en-US" dirty="0"/>
          </a:p>
        </p:txBody>
      </p:sp>
    </p:spTree>
    <p:extLst>
      <p:ext uri="{BB962C8B-B14F-4D97-AF65-F5344CB8AC3E}">
        <p14:creationId xmlns:p14="http://schemas.microsoft.com/office/powerpoint/2010/main" val="993122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AF1F8-EA26-4FDD-B279-C9FA319A5120}"/>
              </a:ext>
            </a:extLst>
          </p:cNvPr>
          <p:cNvSpPr>
            <a:spLocks noGrp="1"/>
          </p:cNvSpPr>
          <p:nvPr>
            <p:ph type="ctrTitle"/>
          </p:nvPr>
        </p:nvSpPr>
        <p:spPr>
          <a:xfrm>
            <a:off x="1595269" y="296109"/>
            <a:ext cx="9001462" cy="823324"/>
          </a:xfrm>
        </p:spPr>
        <p:txBody>
          <a:bodyPr/>
          <a:lstStyle/>
          <a:p>
            <a:r>
              <a:rPr lang="en-US" dirty="0"/>
              <a:t>Outline</a:t>
            </a:r>
          </a:p>
        </p:txBody>
      </p:sp>
      <p:sp>
        <p:nvSpPr>
          <p:cNvPr id="3" name="Subtitle 2">
            <a:extLst>
              <a:ext uri="{FF2B5EF4-FFF2-40B4-BE49-F238E27FC236}">
                <a16:creationId xmlns:a16="http://schemas.microsoft.com/office/drawing/2014/main" id="{9F6CEFE2-E343-4FCE-B4B7-FA6FE9F638EA}"/>
              </a:ext>
            </a:extLst>
          </p:cNvPr>
          <p:cNvSpPr>
            <a:spLocks noGrp="1"/>
          </p:cNvSpPr>
          <p:nvPr>
            <p:ph type="subTitle" idx="1"/>
          </p:nvPr>
        </p:nvSpPr>
        <p:spPr>
          <a:xfrm>
            <a:off x="1595269" y="1244339"/>
            <a:ext cx="9001462" cy="5317552"/>
          </a:xfrm>
        </p:spPr>
        <p:txBody>
          <a:bodyPr>
            <a:normAutofit fontScale="92500" lnSpcReduction="20000"/>
          </a:bodyPr>
          <a:lstStyle/>
          <a:p>
            <a:pPr marL="457200" indent="-457200" algn="l">
              <a:buAutoNum type="arabicPeriod"/>
            </a:pPr>
            <a:r>
              <a:rPr lang="en-US" dirty="0"/>
              <a:t>Introduction</a:t>
            </a:r>
          </a:p>
          <a:p>
            <a:pPr marL="457200" indent="-457200" algn="l">
              <a:buAutoNum type="arabicPeriod" startAt="2"/>
            </a:pPr>
            <a:r>
              <a:rPr lang="en-US" dirty="0"/>
              <a:t>Aim and Scope</a:t>
            </a:r>
          </a:p>
          <a:p>
            <a:pPr marL="457200" indent="-457200" algn="l">
              <a:buAutoNum type="arabicPeriod" startAt="2"/>
            </a:pPr>
            <a:r>
              <a:rPr lang="en-US" dirty="0"/>
              <a:t>Objective </a:t>
            </a:r>
          </a:p>
          <a:p>
            <a:pPr marL="457200" indent="-457200" algn="l">
              <a:buAutoNum type="arabicPeriod" startAt="4"/>
            </a:pPr>
            <a:r>
              <a:rPr lang="en-US" dirty="0"/>
              <a:t>Methodology</a:t>
            </a:r>
          </a:p>
          <a:p>
            <a:pPr marL="457200" indent="-457200" algn="l">
              <a:buAutoNum type="arabicPeriod" startAt="4"/>
            </a:pPr>
            <a:r>
              <a:rPr lang="en-US" dirty="0"/>
              <a:t>Architectural Diagram  </a:t>
            </a:r>
          </a:p>
          <a:p>
            <a:pPr marL="457200" indent="-457200" algn="l">
              <a:buFont typeface="Arial" pitchFamily="34" charset="0"/>
              <a:buAutoNum type="arabicPeriod" startAt="4"/>
            </a:pPr>
            <a:r>
              <a:rPr lang="en-US" dirty="0"/>
              <a:t>E-R Diagram</a:t>
            </a:r>
          </a:p>
          <a:p>
            <a:pPr marL="457200" indent="-457200" algn="l">
              <a:buFont typeface="Arial" pitchFamily="34" charset="0"/>
              <a:buAutoNum type="arabicPeriod" startAt="4"/>
            </a:pPr>
            <a:r>
              <a:rPr lang="en-US" dirty="0"/>
              <a:t>Use case Diagram</a:t>
            </a:r>
          </a:p>
          <a:p>
            <a:pPr marL="457200" indent="-457200" algn="l">
              <a:buFont typeface="Arial" pitchFamily="34" charset="0"/>
              <a:buAutoNum type="arabicPeriod" startAt="4"/>
            </a:pPr>
            <a:r>
              <a:rPr lang="en-US" dirty="0"/>
              <a:t>Data Flow Diagram</a:t>
            </a:r>
          </a:p>
          <a:p>
            <a:pPr marL="457200" indent="-457200" algn="l">
              <a:buFont typeface="Arial" pitchFamily="34" charset="0"/>
              <a:buAutoNum type="arabicPeriod" startAt="4"/>
            </a:pPr>
            <a:r>
              <a:rPr lang="en-US" dirty="0"/>
              <a:t>Cost Estimation</a:t>
            </a:r>
          </a:p>
          <a:p>
            <a:pPr marL="457200" indent="-457200" algn="l">
              <a:buFont typeface="Arial" pitchFamily="34" charset="0"/>
              <a:buAutoNum type="arabicPeriod" startAt="4"/>
            </a:pPr>
            <a:r>
              <a:rPr lang="en-US" dirty="0"/>
              <a:t>Project Time Schedule</a:t>
            </a:r>
          </a:p>
          <a:p>
            <a:pPr marL="457200" indent="-457200" algn="l">
              <a:buFont typeface="Arial" pitchFamily="34" charset="0"/>
              <a:buAutoNum type="arabicPeriod" startAt="4"/>
            </a:pPr>
            <a:r>
              <a:rPr lang="en-US" dirty="0"/>
              <a:t>Conclusion </a:t>
            </a:r>
          </a:p>
          <a:p>
            <a:pPr algn="l"/>
            <a:endParaRPr lang="en-US" dirty="0"/>
          </a:p>
          <a:p>
            <a:pPr marL="457200" indent="-457200">
              <a:buAutoNum type="arabicPeriod" startAt="3"/>
            </a:pPr>
            <a:endParaRPr lang="en-US" dirty="0"/>
          </a:p>
          <a:p>
            <a:pPr marL="457200" indent="-457200">
              <a:buAutoNum type="arabicPeriod" startAt="3"/>
            </a:pPr>
            <a:endParaRPr lang="en-US" dirty="0"/>
          </a:p>
        </p:txBody>
      </p:sp>
    </p:spTree>
    <p:extLst>
      <p:ext uri="{BB962C8B-B14F-4D97-AF65-F5344CB8AC3E}">
        <p14:creationId xmlns:p14="http://schemas.microsoft.com/office/powerpoint/2010/main" val="2902327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BD114-4DC2-4EF9-BAFC-10D67410ED24}"/>
              </a:ext>
            </a:extLst>
          </p:cNvPr>
          <p:cNvSpPr>
            <a:spLocks noGrp="1"/>
          </p:cNvSpPr>
          <p:nvPr>
            <p:ph type="ctrTitle"/>
          </p:nvPr>
        </p:nvSpPr>
        <p:spPr>
          <a:xfrm>
            <a:off x="1595269" y="424780"/>
            <a:ext cx="9001462" cy="857266"/>
          </a:xfrm>
        </p:spPr>
        <p:txBody>
          <a:bodyPr/>
          <a:lstStyle/>
          <a:p>
            <a:r>
              <a:rPr lang="en-US" dirty="0"/>
              <a:t>1. Introduction</a:t>
            </a:r>
          </a:p>
        </p:txBody>
      </p:sp>
      <p:sp>
        <p:nvSpPr>
          <p:cNvPr id="3" name="Subtitle 2">
            <a:extLst>
              <a:ext uri="{FF2B5EF4-FFF2-40B4-BE49-F238E27FC236}">
                <a16:creationId xmlns:a16="http://schemas.microsoft.com/office/drawing/2014/main" id="{6ACA34E1-7914-44B7-9058-D9C747BE083B}"/>
              </a:ext>
            </a:extLst>
          </p:cNvPr>
          <p:cNvSpPr>
            <a:spLocks noGrp="1"/>
          </p:cNvSpPr>
          <p:nvPr>
            <p:ph type="subTitle" idx="1"/>
          </p:nvPr>
        </p:nvSpPr>
        <p:spPr>
          <a:xfrm>
            <a:off x="1595269" y="1536569"/>
            <a:ext cx="9001462" cy="5175316"/>
          </a:xfrm>
        </p:spPr>
        <p:txBody>
          <a:bodyPr>
            <a:normAutofit/>
          </a:bodyPr>
          <a:lstStyle/>
          <a:p>
            <a:pPr algn="just">
              <a:lnSpc>
                <a:spcPct val="150000"/>
              </a:lnSpc>
            </a:pPr>
            <a:r>
              <a:rPr lang="en-US" sz="2000" dirty="0"/>
              <a:t>Agriculture is vital for developing countries like Nepal, but farmers often earn less due to middlemen, while customers struggle to get fresh produce at fair prices. Farmo is a mobile app designed to directly connect farmers and customers. It lets farmers list their crops and vegetables, and allows customers to compare prices and place orders, eliminating middlemen and ensuring better income for farmers and affordable produce for buyers.</a:t>
            </a:r>
          </a:p>
          <a:p>
            <a:pPr algn="just">
              <a:lnSpc>
                <a:spcPct val="150000"/>
              </a:lnSpc>
            </a:pPr>
            <a:endParaRPr lang="en-US" sz="2000" dirty="0"/>
          </a:p>
          <a:p>
            <a:pPr algn="just">
              <a:lnSpc>
                <a:spcPct val="150000"/>
              </a:lnSpc>
            </a:pPr>
            <a:endParaRPr lang="en-US" sz="2000" dirty="0"/>
          </a:p>
        </p:txBody>
      </p:sp>
    </p:spTree>
    <p:extLst>
      <p:ext uri="{BB962C8B-B14F-4D97-AF65-F5344CB8AC3E}">
        <p14:creationId xmlns:p14="http://schemas.microsoft.com/office/powerpoint/2010/main" val="321296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45B87-5F3B-9E61-2690-81CCB0B18454}"/>
              </a:ext>
            </a:extLst>
          </p:cNvPr>
          <p:cNvSpPr>
            <a:spLocks noGrp="1"/>
          </p:cNvSpPr>
          <p:nvPr>
            <p:ph type="title"/>
          </p:nvPr>
        </p:nvSpPr>
        <p:spPr/>
        <p:txBody>
          <a:bodyPr/>
          <a:lstStyle/>
          <a:p>
            <a:r>
              <a:rPr lang="en-US" dirty="0"/>
              <a:t>2. Aim and scope</a:t>
            </a:r>
          </a:p>
        </p:txBody>
      </p:sp>
      <p:sp>
        <p:nvSpPr>
          <p:cNvPr id="3" name="Content Placeholder 2">
            <a:extLst>
              <a:ext uri="{FF2B5EF4-FFF2-40B4-BE49-F238E27FC236}">
                <a16:creationId xmlns:a16="http://schemas.microsoft.com/office/drawing/2014/main" id="{D06EB3D5-320D-0519-235F-CB8807E9B886}"/>
              </a:ext>
            </a:extLst>
          </p:cNvPr>
          <p:cNvSpPr>
            <a:spLocks noGrp="1"/>
          </p:cNvSpPr>
          <p:nvPr>
            <p:ph idx="1"/>
          </p:nvPr>
        </p:nvSpPr>
        <p:spPr>
          <a:xfrm>
            <a:off x="913795" y="2096064"/>
            <a:ext cx="9980628" cy="3695136"/>
          </a:xfrm>
        </p:spPr>
        <p:txBody>
          <a:bodyPr/>
          <a:lstStyle/>
          <a:p>
            <a:pPr algn="just"/>
            <a:r>
              <a:rPr lang="en-US" b="1" dirty="0"/>
              <a:t>Aim:</a:t>
            </a:r>
            <a:r>
              <a:rPr lang="en-US" dirty="0"/>
              <a:t> To build a digital platform that connects Nepali farmers and consumers directly, ensuring fair pricing and fresh agricultural products by removing middlemen.</a:t>
            </a:r>
          </a:p>
          <a:p>
            <a:pPr marL="0" indent="0" algn="just">
              <a:buNone/>
            </a:pPr>
            <a:endParaRPr lang="en-US" dirty="0"/>
          </a:p>
          <a:p>
            <a:pPr algn="just"/>
            <a:r>
              <a:rPr lang="en-US" b="1" dirty="0"/>
              <a:t>Scope:</a:t>
            </a:r>
            <a:r>
              <a:rPr lang="en-US" dirty="0"/>
              <a:t> Farmers can list and sell products; consumers can browse, order, and rate; admins oversee verification, transactions, and reporting.</a:t>
            </a:r>
          </a:p>
          <a:p>
            <a:endParaRPr lang="en-US" dirty="0"/>
          </a:p>
        </p:txBody>
      </p:sp>
    </p:spTree>
    <p:extLst>
      <p:ext uri="{BB962C8B-B14F-4D97-AF65-F5344CB8AC3E}">
        <p14:creationId xmlns:p14="http://schemas.microsoft.com/office/powerpoint/2010/main" val="1569968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9CAE-9C07-4878-8D63-3E1B8D1BFC16}"/>
              </a:ext>
            </a:extLst>
          </p:cNvPr>
          <p:cNvSpPr>
            <a:spLocks noGrp="1"/>
          </p:cNvSpPr>
          <p:nvPr>
            <p:ph type="ctrTitle"/>
          </p:nvPr>
        </p:nvSpPr>
        <p:spPr>
          <a:xfrm>
            <a:off x="1595269" y="292804"/>
            <a:ext cx="9001462" cy="810132"/>
          </a:xfrm>
        </p:spPr>
        <p:txBody>
          <a:bodyPr/>
          <a:lstStyle/>
          <a:p>
            <a:r>
              <a:rPr lang="en-US" dirty="0"/>
              <a:t>3. Objective</a:t>
            </a:r>
          </a:p>
        </p:txBody>
      </p:sp>
      <p:sp>
        <p:nvSpPr>
          <p:cNvPr id="3" name="Subtitle 2">
            <a:extLst>
              <a:ext uri="{FF2B5EF4-FFF2-40B4-BE49-F238E27FC236}">
                <a16:creationId xmlns:a16="http://schemas.microsoft.com/office/drawing/2014/main" id="{CD17F402-DF60-4AB6-A4CC-0D11484A5338}"/>
              </a:ext>
            </a:extLst>
          </p:cNvPr>
          <p:cNvSpPr>
            <a:spLocks noGrp="1"/>
          </p:cNvSpPr>
          <p:nvPr>
            <p:ph type="subTitle" idx="1"/>
          </p:nvPr>
        </p:nvSpPr>
        <p:spPr>
          <a:xfrm>
            <a:off x="1596272" y="1668544"/>
            <a:ext cx="9000459" cy="4053527"/>
          </a:xfrm>
        </p:spPr>
        <p:txBody>
          <a:bodyPr/>
          <a:lstStyle/>
          <a:p>
            <a:pPr marL="342900" marR="0" lvl="0" indent="-342900" algn="just">
              <a:lnSpc>
                <a:spcPct val="150000"/>
              </a:lnSpc>
              <a:spcBef>
                <a:spcPts val="0"/>
              </a:spcBef>
              <a:spcAft>
                <a:spcPts val="0"/>
              </a:spcAft>
              <a:buFont typeface="Symbol" panose="05050102010706020507" pitchFamily="18" charset="2"/>
              <a:buChar char=""/>
            </a:pPr>
            <a:r>
              <a:rPr lang="en-US" dirty="0"/>
              <a:t>To enable direct ordering between farmers and consumers.</a:t>
            </a:r>
          </a:p>
          <a:p>
            <a:pPr marL="342900" marR="0" lvl="0" indent="-342900" algn="just">
              <a:lnSpc>
                <a:spcPct val="150000"/>
              </a:lnSpc>
              <a:spcBef>
                <a:spcPts val="0"/>
              </a:spcBef>
              <a:spcAft>
                <a:spcPts val="0"/>
              </a:spcAft>
              <a:buFont typeface="Symbol" panose="05050102010706020507" pitchFamily="18" charset="2"/>
              <a:buChar char=""/>
            </a:pPr>
            <a:r>
              <a:rPr lang="en-US" dirty="0"/>
              <a:t>To build a mobile marketplace ensuring transparent and fair agricultural transactions.</a:t>
            </a:r>
          </a:p>
          <a:p>
            <a:pPr marL="342900" marR="0" lvl="0" indent="-342900" algn="just">
              <a:lnSpc>
                <a:spcPct val="150000"/>
              </a:lnSpc>
              <a:spcBef>
                <a:spcPts val="0"/>
              </a:spcBef>
              <a:spcAft>
                <a:spcPts val="0"/>
              </a:spcAft>
              <a:buFont typeface="Symbol" panose="05050102010706020507" pitchFamily="18" charset="2"/>
              <a:buChar char=""/>
            </a:pPr>
            <a:r>
              <a:rPr lang="en-US" dirty="0"/>
              <a:t>To provide efficient order tracking and communication.</a:t>
            </a:r>
            <a:endParaRPr lang="en-US" dirty="0">
              <a:effectLst/>
              <a:latin typeface="Calibri" panose="020F0502020204030204" pitchFamily="34" charset="0"/>
              <a:ea typeface="Calibri" panose="020F0502020204030204" pitchFamily="34" charset="0"/>
              <a:cs typeface="Mangal" panose="02040503050203030202" pitchFamily="18" charset="0"/>
            </a:endParaRPr>
          </a:p>
          <a:p>
            <a:endParaRPr lang="en-US" dirty="0"/>
          </a:p>
          <a:p>
            <a:endParaRPr lang="en-US" dirty="0"/>
          </a:p>
          <a:p>
            <a:endParaRPr lang="en-US" b="1" dirty="0"/>
          </a:p>
        </p:txBody>
      </p:sp>
    </p:spTree>
    <p:extLst>
      <p:ext uri="{BB962C8B-B14F-4D97-AF65-F5344CB8AC3E}">
        <p14:creationId xmlns:p14="http://schemas.microsoft.com/office/powerpoint/2010/main" val="1409365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F829-06A6-283E-A5E4-C3CD082CD224}"/>
              </a:ext>
            </a:extLst>
          </p:cNvPr>
          <p:cNvSpPr>
            <a:spLocks noGrp="1"/>
          </p:cNvSpPr>
          <p:nvPr>
            <p:ph type="title"/>
          </p:nvPr>
        </p:nvSpPr>
        <p:spPr/>
        <p:txBody>
          <a:bodyPr/>
          <a:lstStyle/>
          <a:p>
            <a:r>
              <a:rPr lang="en-US" dirty="0"/>
              <a:t>PREVIOUS AND PROPOSED  SYSTEM</a:t>
            </a:r>
          </a:p>
        </p:txBody>
      </p:sp>
      <p:sp>
        <p:nvSpPr>
          <p:cNvPr id="3" name="Content Placeholder 2">
            <a:extLst>
              <a:ext uri="{FF2B5EF4-FFF2-40B4-BE49-F238E27FC236}">
                <a16:creationId xmlns:a16="http://schemas.microsoft.com/office/drawing/2014/main" id="{BE9A83C4-8B7E-636F-5960-D2F9B195BBF2}"/>
              </a:ext>
            </a:extLst>
          </p:cNvPr>
          <p:cNvSpPr>
            <a:spLocks noGrp="1"/>
          </p:cNvSpPr>
          <p:nvPr>
            <p:ph idx="1"/>
          </p:nvPr>
        </p:nvSpPr>
        <p:spPr>
          <a:xfrm>
            <a:off x="913795" y="2133772"/>
            <a:ext cx="10353762" cy="3695136"/>
          </a:xfrm>
        </p:spPr>
        <p:txBody>
          <a:bodyPr/>
          <a:lstStyle/>
          <a:p>
            <a:pPr marL="0" indent="0">
              <a:buNone/>
            </a:pPr>
            <a:r>
              <a:rPr lang="en-US" sz="2400" b="1" u="sng" dirty="0"/>
              <a:t>Previous System</a:t>
            </a:r>
            <a:r>
              <a:rPr lang="en-US" dirty="0"/>
              <a:t>:</a:t>
            </a:r>
          </a:p>
          <a:p>
            <a:r>
              <a:rPr lang="en-US" dirty="0"/>
              <a:t>Farmers sold their products through middlemen or local market often receive low price.</a:t>
            </a:r>
          </a:p>
          <a:p>
            <a:r>
              <a:rPr lang="en-US" dirty="0"/>
              <a:t>Website of business house to selling crops are only available in market that’s why we building direct interactive system between Farmer </a:t>
            </a:r>
            <a:r>
              <a:rPr lang="en-US"/>
              <a:t>and consumer.</a:t>
            </a:r>
            <a:endParaRPr lang="en-US" dirty="0"/>
          </a:p>
          <a:p>
            <a:pPr marL="0" indent="0">
              <a:buNone/>
            </a:pPr>
            <a:r>
              <a:rPr lang="en-US" sz="2400" b="1" u="sng" dirty="0"/>
              <a:t>Proposed Solution</a:t>
            </a:r>
            <a:r>
              <a:rPr lang="en-US" dirty="0"/>
              <a:t>:</a:t>
            </a:r>
          </a:p>
          <a:p>
            <a:r>
              <a:rPr lang="en-US" dirty="0"/>
              <a:t>Farmers can upload and sell the product directly through a simple mobile app by this they can eliminate middlemen.</a:t>
            </a:r>
          </a:p>
          <a:p>
            <a:pPr marL="0" indent="0">
              <a:buNone/>
            </a:pPr>
            <a:endParaRPr lang="en-US" dirty="0"/>
          </a:p>
        </p:txBody>
      </p:sp>
    </p:spTree>
    <p:extLst>
      <p:ext uri="{BB962C8B-B14F-4D97-AF65-F5344CB8AC3E}">
        <p14:creationId xmlns:p14="http://schemas.microsoft.com/office/powerpoint/2010/main" val="3875224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96D00-BE7F-41BE-90EE-D891955C8957}"/>
              </a:ext>
            </a:extLst>
          </p:cNvPr>
          <p:cNvSpPr>
            <a:spLocks noGrp="1"/>
          </p:cNvSpPr>
          <p:nvPr>
            <p:ph type="ctrTitle"/>
          </p:nvPr>
        </p:nvSpPr>
        <p:spPr>
          <a:xfrm>
            <a:off x="1501001" y="358792"/>
            <a:ext cx="9001462" cy="857266"/>
          </a:xfrm>
        </p:spPr>
        <p:txBody>
          <a:bodyPr>
            <a:normAutofit/>
          </a:bodyPr>
          <a:lstStyle/>
          <a:p>
            <a:r>
              <a:rPr lang="en-US" dirty="0"/>
              <a:t>4. Methodology </a:t>
            </a:r>
          </a:p>
        </p:txBody>
      </p:sp>
      <p:pic>
        <p:nvPicPr>
          <p:cNvPr id="4" name="Picture 3">
            <a:extLst>
              <a:ext uri="{FF2B5EF4-FFF2-40B4-BE49-F238E27FC236}">
                <a16:creationId xmlns:a16="http://schemas.microsoft.com/office/drawing/2014/main" id="{480830D1-216A-829A-F6CF-3A4313B4CB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4947" y="1453404"/>
            <a:ext cx="7862106" cy="3611655"/>
          </a:xfrm>
          <a:prstGeom prst="rect">
            <a:avLst/>
          </a:prstGeom>
        </p:spPr>
      </p:pic>
    </p:spTree>
    <p:extLst>
      <p:ext uri="{BB962C8B-B14F-4D97-AF65-F5344CB8AC3E}">
        <p14:creationId xmlns:p14="http://schemas.microsoft.com/office/powerpoint/2010/main" val="1633518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EAA82-B9DF-4119-942B-E355CF7C6741}"/>
              </a:ext>
            </a:extLst>
          </p:cNvPr>
          <p:cNvSpPr>
            <a:spLocks noGrp="1"/>
          </p:cNvSpPr>
          <p:nvPr>
            <p:ph type="ctrTitle"/>
          </p:nvPr>
        </p:nvSpPr>
        <p:spPr>
          <a:xfrm>
            <a:off x="1595269" y="387072"/>
            <a:ext cx="9001462" cy="1554849"/>
          </a:xfrm>
        </p:spPr>
        <p:txBody>
          <a:bodyPr/>
          <a:lstStyle/>
          <a:p>
            <a:r>
              <a:rPr lang="en-US" dirty="0"/>
              <a:t>5. Architectural Diagram</a:t>
            </a:r>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2736950" y="2330734"/>
            <a:ext cx="6318818" cy="3123582"/>
          </a:xfrm>
          <a:prstGeom prst="rect">
            <a:avLst/>
          </a:prstGeom>
        </p:spPr>
      </p:pic>
    </p:spTree>
    <p:extLst>
      <p:ext uri="{BB962C8B-B14F-4D97-AF65-F5344CB8AC3E}">
        <p14:creationId xmlns:p14="http://schemas.microsoft.com/office/powerpoint/2010/main" val="2881926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D92CE-C61A-4DD0-B7C1-865ACD866EA8}"/>
              </a:ext>
            </a:extLst>
          </p:cNvPr>
          <p:cNvSpPr>
            <a:spLocks noGrp="1"/>
          </p:cNvSpPr>
          <p:nvPr>
            <p:ph type="ctrTitle"/>
          </p:nvPr>
        </p:nvSpPr>
        <p:spPr>
          <a:xfrm>
            <a:off x="1595269" y="314440"/>
            <a:ext cx="9001462" cy="847839"/>
          </a:xfrm>
        </p:spPr>
        <p:txBody>
          <a:bodyPr/>
          <a:lstStyle/>
          <a:p>
            <a:r>
              <a:rPr lang="en-US" dirty="0"/>
              <a:t>6. E-R Diagram</a:t>
            </a: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1780675" y="1291390"/>
            <a:ext cx="8558462" cy="5101390"/>
          </a:xfrm>
          <a:prstGeom prst="rect">
            <a:avLst/>
          </a:prstGeom>
        </p:spPr>
        <p:style>
          <a:lnRef idx="2">
            <a:schemeClr val="accent3">
              <a:shade val="50000"/>
            </a:schemeClr>
          </a:lnRef>
          <a:fillRef idx="1">
            <a:schemeClr val="accent3"/>
          </a:fillRef>
          <a:effectRef idx="0">
            <a:schemeClr val="accent3"/>
          </a:effectRef>
          <a:fontRef idx="minor">
            <a:schemeClr val="lt1"/>
          </a:fontRef>
        </p:style>
      </p:pic>
    </p:spTree>
    <p:extLst>
      <p:ext uri="{BB962C8B-B14F-4D97-AF65-F5344CB8AC3E}">
        <p14:creationId xmlns:p14="http://schemas.microsoft.com/office/powerpoint/2010/main" val="1284813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38F92-5541-40C8-9163-01A15BE4DE31}"/>
              </a:ext>
            </a:extLst>
          </p:cNvPr>
          <p:cNvSpPr>
            <a:spLocks noGrp="1"/>
          </p:cNvSpPr>
          <p:nvPr>
            <p:ph type="ctrTitle"/>
          </p:nvPr>
        </p:nvSpPr>
        <p:spPr>
          <a:xfrm>
            <a:off x="1595269" y="314440"/>
            <a:ext cx="9001462" cy="847839"/>
          </a:xfrm>
        </p:spPr>
        <p:txBody>
          <a:bodyPr/>
          <a:lstStyle/>
          <a:p>
            <a:r>
              <a:rPr lang="en-US" dirty="0"/>
              <a:t>7. Use case diagram</a:t>
            </a:r>
          </a:p>
        </p:txBody>
      </p:sp>
      <p:sp>
        <p:nvSpPr>
          <p:cNvPr id="3" name="Subtitle 2">
            <a:extLst>
              <a:ext uri="{FF2B5EF4-FFF2-40B4-BE49-F238E27FC236}">
                <a16:creationId xmlns:a16="http://schemas.microsoft.com/office/drawing/2014/main" id="{A8548C93-B865-4999-99E5-CD11AEF381B7}"/>
              </a:ext>
            </a:extLst>
          </p:cNvPr>
          <p:cNvSpPr>
            <a:spLocks noGrp="1"/>
          </p:cNvSpPr>
          <p:nvPr>
            <p:ph type="subTitle" idx="1"/>
          </p:nvPr>
        </p:nvSpPr>
        <p:spPr>
          <a:xfrm>
            <a:off x="1595269" y="1263192"/>
            <a:ext cx="9001462" cy="4930218"/>
          </a:xfrm>
        </p:spPr>
        <p:txBody>
          <a:bodyPr/>
          <a:lstStyle/>
          <a:p>
            <a:pPr algn="l"/>
            <a:r>
              <a:rPr lang="en-US" dirty="0"/>
              <a:t>7.1 For Admin</a:t>
            </a:r>
          </a:p>
          <a:p>
            <a:pPr algn="l"/>
            <a:endParaRPr lang="en-US" dirty="0"/>
          </a:p>
        </p:txBody>
      </p:sp>
      <p:pic>
        <p:nvPicPr>
          <p:cNvPr id="21" name="Picture 20"/>
          <p:cNvPicPr/>
          <p:nvPr/>
        </p:nvPicPr>
        <p:blipFill>
          <a:blip r:embed="rId2">
            <a:extLst>
              <a:ext uri="{28A0092B-C50C-407E-A947-70E740481C1C}">
                <a14:useLocalDpi xmlns:a14="http://schemas.microsoft.com/office/drawing/2010/main" val="0"/>
              </a:ext>
            </a:extLst>
          </a:blip>
          <a:stretch>
            <a:fillRect/>
          </a:stretch>
        </p:blipFill>
        <p:spPr>
          <a:xfrm>
            <a:off x="3331910" y="1935579"/>
            <a:ext cx="4328194" cy="4617621"/>
          </a:xfrm>
          <a:prstGeom prst="rect">
            <a:avLst/>
          </a:prstGeom>
        </p:spPr>
        <p:style>
          <a:lnRef idx="2">
            <a:schemeClr val="accent3">
              <a:shade val="50000"/>
            </a:schemeClr>
          </a:lnRef>
          <a:fillRef idx="1">
            <a:schemeClr val="accent3"/>
          </a:fillRef>
          <a:effectRef idx="0">
            <a:schemeClr val="accent3"/>
          </a:effectRef>
          <a:fontRef idx="minor">
            <a:schemeClr val="lt1"/>
          </a:fontRef>
        </p:style>
      </p:pic>
    </p:spTree>
    <p:extLst>
      <p:ext uri="{BB962C8B-B14F-4D97-AF65-F5344CB8AC3E}">
        <p14:creationId xmlns:p14="http://schemas.microsoft.com/office/powerpoint/2010/main" val="236251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07F7A-A486-4AF2-87DE-C7E8EC87BD72}"/>
              </a:ext>
            </a:extLst>
          </p:cNvPr>
          <p:cNvSpPr>
            <a:spLocks noGrp="1"/>
          </p:cNvSpPr>
          <p:nvPr>
            <p:ph type="ctrTitle"/>
          </p:nvPr>
        </p:nvSpPr>
        <p:spPr>
          <a:xfrm>
            <a:off x="1595269" y="490767"/>
            <a:ext cx="9001462" cy="800705"/>
          </a:xfrm>
        </p:spPr>
        <p:txBody>
          <a:bodyPr/>
          <a:lstStyle/>
          <a:p>
            <a:r>
              <a:rPr lang="en-US" dirty="0"/>
              <a:t>7. Use Case Diagram</a:t>
            </a:r>
          </a:p>
        </p:txBody>
      </p:sp>
      <p:sp>
        <p:nvSpPr>
          <p:cNvPr id="3" name="Subtitle 2">
            <a:extLst>
              <a:ext uri="{FF2B5EF4-FFF2-40B4-BE49-F238E27FC236}">
                <a16:creationId xmlns:a16="http://schemas.microsoft.com/office/drawing/2014/main" id="{AC75FB3F-AEF9-4511-ABBD-7DE82375D1A3}"/>
              </a:ext>
            </a:extLst>
          </p:cNvPr>
          <p:cNvSpPr>
            <a:spLocks noGrp="1"/>
          </p:cNvSpPr>
          <p:nvPr>
            <p:ph type="subTitle" idx="1"/>
          </p:nvPr>
        </p:nvSpPr>
        <p:spPr>
          <a:xfrm>
            <a:off x="1595268" y="1291472"/>
            <a:ext cx="9001462" cy="4764676"/>
          </a:xfrm>
        </p:spPr>
        <p:txBody>
          <a:bodyPr/>
          <a:lstStyle/>
          <a:p>
            <a:pPr algn="l"/>
            <a:r>
              <a:rPr lang="en-US" dirty="0"/>
              <a:t>7.2 For Farmer/Consumer</a:t>
            </a:r>
          </a:p>
          <a:p>
            <a:pPr algn="l"/>
            <a:endParaRPr lang="en-US" dirty="0"/>
          </a:p>
        </p:txBody>
      </p:sp>
      <p:pic>
        <p:nvPicPr>
          <p:cNvPr id="27" name="Picture 26"/>
          <p:cNvPicPr/>
          <p:nvPr/>
        </p:nvPicPr>
        <p:blipFill>
          <a:blip r:embed="rId2">
            <a:extLst>
              <a:ext uri="{28A0092B-C50C-407E-A947-70E740481C1C}">
                <a14:useLocalDpi xmlns:a14="http://schemas.microsoft.com/office/drawing/2010/main" val="0"/>
              </a:ext>
            </a:extLst>
          </a:blip>
          <a:stretch>
            <a:fillRect/>
          </a:stretch>
        </p:blipFill>
        <p:spPr>
          <a:xfrm>
            <a:off x="2889706" y="1764463"/>
            <a:ext cx="5871411" cy="4916255"/>
          </a:xfrm>
          <a:prstGeom prst="rect">
            <a:avLst/>
          </a:prstGeom>
        </p:spPr>
        <p:style>
          <a:lnRef idx="2">
            <a:schemeClr val="accent3">
              <a:shade val="50000"/>
            </a:schemeClr>
          </a:lnRef>
          <a:fillRef idx="1">
            <a:schemeClr val="accent3"/>
          </a:fillRef>
          <a:effectRef idx="0">
            <a:schemeClr val="accent3"/>
          </a:effectRef>
          <a:fontRef idx="minor">
            <a:schemeClr val="lt1"/>
          </a:fontRef>
        </p:style>
      </p:pic>
    </p:spTree>
    <p:extLst>
      <p:ext uri="{BB962C8B-B14F-4D97-AF65-F5344CB8AC3E}">
        <p14:creationId xmlns:p14="http://schemas.microsoft.com/office/powerpoint/2010/main" val="772574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AE22C-73C8-4BF6-935A-2B9362AFEE75}"/>
              </a:ext>
            </a:extLst>
          </p:cNvPr>
          <p:cNvSpPr>
            <a:spLocks noGrp="1"/>
          </p:cNvSpPr>
          <p:nvPr>
            <p:ph type="ctrTitle"/>
          </p:nvPr>
        </p:nvSpPr>
        <p:spPr>
          <a:xfrm>
            <a:off x="1529281" y="352147"/>
            <a:ext cx="9001462" cy="885546"/>
          </a:xfrm>
        </p:spPr>
        <p:txBody>
          <a:bodyPr/>
          <a:lstStyle/>
          <a:p>
            <a:r>
              <a:rPr lang="en-US" dirty="0"/>
              <a:t>8. Data Flow Diagram</a:t>
            </a:r>
          </a:p>
        </p:txBody>
      </p:sp>
      <p:sp>
        <p:nvSpPr>
          <p:cNvPr id="3" name="Subtitle 2">
            <a:extLst>
              <a:ext uri="{FF2B5EF4-FFF2-40B4-BE49-F238E27FC236}">
                <a16:creationId xmlns:a16="http://schemas.microsoft.com/office/drawing/2014/main" id="{001BD31E-7066-4D83-830D-EB42BC3A6AA4}"/>
              </a:ext>
            </a:extLst>
          </p:cNvPr>
          <p:cNvSpPr>
            <a:spLocks noGrp="1"/>
          </p:cNvSpPr>
          <p:nvPr>
            <p:ph type="subTitle" idx="1"/>
          </p:nvPr>
        </p:nvSpPr>
        <p:spPr>
          <a:xfrm>
            <a:off x="1464640" y="1237693"/>
            <a:ext cx="9001462" cy="4741682"/>
          </a:xfrm>
        </p:spPr>
        <p:txBody>
          <a:bodyPr/>
          <a:lstStyle/>
          <a:p>
            <a:pPr algn="l"/>
            <a:r>
              <a:rPr lang="en-US" dirty="0"/>
              <a:t>8.1  Level-0 DFD</a:t>
            </a:r>
          </a:p>
          <a:p>
            <a:pPr algn="l"/>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591718" y="1759131"/>
            <a:ext cx="6295607" cy="4425101"/>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685219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258DA4-7F39-4073-80EF-353FA9F56E9B}"/>
              </a:ext>
            </a:extLst>
          </p:cNvPr>
          <p:cNvSpPr>
            <a:spLocks noGrp="1"/>
          </p:cNvSpPr>
          <p:nvPr>
            <p:ph idx="1"/>
          </p:nvPr>
        </p:nvSpPr>
        <p:spPr>
          <a:xfrm>
            <a:off x="633225" y="89836"/>
            <a:ext cx="10353762" cy="5090800"/>
          </a:xfrm>
        </p:spPr>
        <p:txBody>
          <a:bodyPr/>
          <a:lstStyle/>
          <a:p>
            <a:pPr marL="0" indent="0">
              <a:buNone/>
            </a:pPr>
            <a:r>
              <a:rPr lang="en-US" dirty="0"/>
              <a:t>8.2 Level-1 DFD</a:t>
            </a:r>
          </a:p>
          <a:p>
            <a:pPr marL="0" indent="0">
              <a:buNone/>
            </a:pPr>
            <a:endParaRPr lang="en-US" dirty="0"/>
          </a:p>
        </p:txBody>
      </p:sp>
      <p:pic>
        <p:nvPicPr>
          <p:cNvPr id="4" name="Picture 3">
            <a:extLst>
              <a:ext uri="{FF2B5EF4-FFF2-40B4-BE49-F238E27FC236}">
                <a16:creationId xmlns:a16="http://schemas.microsoft.com/office/drawing/2014/main" id="{7259F8AC-449D-D6EB-F997-432127C06A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645094"/>
            <a:ext cx="7162799" cy="5907741"/>
          </a:xfrm>
          <a:prstGeom prst="rect">
            <a:avLst/>
          </a:prstGeom>
        </p:spPr>
        <p:style>
          <a:lnRef idx="2">
            <a:schemeClr val="accent3">
              <a:shade val="15000"/>
            </a:schemeClr>
          </a:lnRef>
          <a:fillRef idx="1">
            <a:schemeClr val="accent3"/>
          </a:fillRef>
          <a:effectRef idx="0">
            <a:schemeClr val="accent3"/>
          </a:effectRef>
          <a:fontRef idx="minor">
            <a:schemeClr val="lt1"/>
          </a:fontRef>
        </p:style>
      </p:pic>
    </p:spTree>
    <p:extLst>
      <p:ext uri="{BB962C8B-B14F-4D97-AF65-F5344CB8AC3E}">
        <p14:creationId xmlns:p14="http://schemas.microsoft.com/office/powerpoint/2010/main" val="2074160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AE0EC-9CDC-4806-827F-633786DA5F89}"/>
              </a:ext>
            </a:extLst>
          </p:cNvPr>
          <p:cNvSpPr>
            <a:spLocks noGrp="1"/>
          </p:cNvSpPr>
          <p:nvPr>
            <p:ph type="title"/>
          </p:nvPr>
        </p:nvSpPr>
        <p:spPr>
          <a:xfrm>
            <a:off x="783167" y="148046"/>
            <a:ext cx="10353761" cy="832701"/>
          </a:xfrm>
        </p:spPr>
        <p:txBody>
          <a:bodyPr/>
          <a:lstStyle/>
          <a:p>
            <a:r>
              <a:rPr lang="en-US" dirty="0"/>
              <a:t>9. Cost estimation</a:t>
            </a:r>
          </a:p>
        </p:txBody>
      </p:sp>
      <p:pic>
        <p:nvPicPr>
          <p:cNvPr id="8" name="Picture 7">
            <a:extLst>
              <a:ext uri="{FF2B5EF4-FFF2-40B4-BE49-F238E27FC236}">
                <a16:creationId xmlns:a16="http://schemas.microsoft.com/office/drawing/2014/main" id="{0C507B3B-F64A-1632-AECA-EAE033D2A077}"/>
              </a:ext>
            </a:extLst>
          </p:cNvPr>
          <p:cNvPicPr>
            <a:picLocks noChangeAspect="1"/>
          </p:cNvPicPr>
          <p:nvPr/>
        </p:nvPicPr>
        <p:blipFill>
          <a:blip r:embed="rId2"/>
          <a:srcRect t="6835"/>
          <a:stretch>
            <a:fillRect/>
          </a:stretch>
        </p:blipFill>
        <p:spPr>
          <a:xfrm>
            <a:off x="3216811" y="780451"/>
            <a:ext cx="5596264" cy="5839202"/>
          </a:xfrm>
          <a:prstGeom prst="rect">
            <a:avLst/>
          </a:prstGeom>
        </p:spPr>
      </p:pic>
    </p:spTree>
    <p:extLst>
      <p:ext uri="{BB962C8B-B14F-4D97-AF65-F5344CB8AC3E}">
        <p14:creationId xmlns:p14="http://schemas.microsoft.com/office/powerpoint/2010/main" val="4003841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D7CC6-EC11-0927-1B90-210F24ECC661}"/>
              </a:ext>
            </a:extLst>
          </p:cNvPr>
          <p:cNvSpPr>
            <a:spLocks noGrp="1"/>
          </p:cNvSpPr>
          <p:nvPr>
            <p:ph type="title"/>
          </p:nvPr>
        </p:nvSpPr>
        <p:spPr>
          <a:xfrm>
            <a:off x="919119" y="46161"/>
            <a:ext cx="10353761" cy="1326321"/>
          </a:xfrm>
        </p:spPr>
        <p:txBody>
          <a:bodyPr/>
          <a:lstStyle/>
          <a:p>
            <a:r>
              <a:rPr lang="en-US" dirty="0"/>
              <a:t>10. Project time schedule</a:t>
            </a:r>
          </a:p>
        </p:txBody>
      </p:sp>
      <p:pic>
        <p:nvPicPr>
          <p:cNvPr id="9" name="Picture 8">
            <a:extLst>
              <a:ext uri="{FF2B5EF4-FFF2-40B4-BE49-F238E27FC236}">
                <a16:creationId xmlns:a16="http://schemas.microsoft.com/office/drawing/2014/main" id="{F8774867-0821-8BA6-FC05-2E97DC54892C}"/>
              </a:ext>
            </a:extLst>
          </p:cNvPr>
          <p:cNvPicPr>
            <a:picLocks noChangeAspect="1"/>
          </p:cNvPicPr>
          <p:nvPr/>
        </p:nvPicPr>
        <p:blipFill>
          <a:blip r:embed="rId2"/>
          <a:stretch>
            <a:fillRect/>
          </a:stretch>
        </p:blipFill>
        <p:spPr>
          <a:xfrm>
            <a:off x="1750423" y="932924"/>
            <a:ext cx="8846767" cy="5670187"/>
          </a:xfrm>
          <a:prstGeom prst="rect">
            <a:avLst/>
          </a:prstGeom>
        </p:spPr>
      </p:pic>
    </p:spTree>
    <p:extLst>
      <p:ext uri="{BB962C8B-B14F-4D97-AF65-F5344CB8AC3E}">
        <p14:creationId xmlns:p14="http://schemas.microsoft.com/office/powerpoint/2010/main" val="1892158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98855-D361-488B-B2DC-C053C8702533}"/>
              </a:ext>
            </a:extLst>
          </p:cNvPr>
          <p:cNvSpPr>
            <a:spLocks noGrp="1"/>
          </p:cNvSpPr>
          <p:nvPr>
            <p:ph type="title"/>
          </p:nvPr>
        </p:nvSpPr>
        <p:spPr>
          <a:xfrm>
            <a:off x="913795" y="609600"/>
            <a:ext cx="10353761" cy="851555"/>
          </a:xfrm>
        </p:spPr>
        <p:txBody>
          <a:bodyPr/>
          <a:lstStyle/>
          <a:p>
            <a:r>
              <a:rPr lang="en-US" dirty="0"/>
              <a:t>11. Conclusion</a:t>
            </a:r>
          </a:p>
        </p:txBody>
      </p:sp>
      <p:sp>
        <p:nvSpPr>
          <p:cNvPr id="3" name="Content Placeholder 2">
            <a:extLst>
              <a:ext uri="{FF2B5EF4-FFF2-40B4-BE49-F238E27FC236}">
                <a16:creationId xmlns:a16="http://schemas.microsoft.com/office/drawing/2014/main" id="{5EE9DB04-6730-44BD-86CE-B472AE0E9227}"/>
              </a:ext>
            </a:extLst>
          </p:cNvPr>
          <p:cNvSpPr>
            <a:spLocks noGrp="1"/>
          </p:cNvSpPr>
          <p:nvPr>
            <p:ph idx="1"/>
          </p:nvPr>
        </p:nvSpPr>
        <p:spPr>
          <a:xfrm>
            <a:off x="913795" y="1564849"/>
            <a:ext cx="10353762" cy="5128182"/>
          </a:xfrm>
        </p:spPr>
        <p:txBody>
          <a:bodyPr/>
          <a:lstStyle/>
          <a:p>
            <a:pPr marL="114300" indent="0" algn="just">
              <a:lnSpc>
                <a:spcPct val="150000"/>
              </a:lnSpc>
              <a:buNone/>
            </a:pPr>
            <a:r>
              <a:rPr lang="en-US" dirty="0"/>
              <a:t>The Farmo system bridges the gap between farmers and consumers by eliminating middlemen, ensuring fair prices for producers and fresh, affordable goods for buyers. Through intuitive tools for product listing, order management, and direct communication, the platform empowers farmers to increase their income and build trust with consumers. By promoting transparency, accessibility, and efficiency, Farmo contributes to a more equitable and sustainable agricultural supply chain.</a:t>
            </a:r>
          </a:p>
        </p:txBody>
      </p:sp>
    </p:spTree>
    <p:extLst>
      <p:ext uri="{BB962C8B-B14F-4D97-AF65-F5344CB8AC3E}">
        <p14:creationId xmlns:p14="http://schemas.microsoft.com/office/powerpoint/2010/main" val="2130512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AB99E-CA4A-4F18-BB7B-DB9D396BF6E1}"/>
              </a:ext>
            </a:extLst>
          </p:cNvPr>
          <p:cNvSpPr>
            <a:spLocks noGrp="1"/>
          </p:cNvSpPr>
          <p:nvPr>
            <p:ph type="ctrTitle"/>
          </p:nvPr>
        </p:nvSpPr>
        <p:spPr>
          <a:xfrm>
            <a:off x="1595269" y="2797691"/>
            <a:ext cx="9001462" cy="791278"/>
          </a:xfrm>
        </p:spPr>
        <p:txBody>
          <a:bodyPr/>
          <a:lstStyle/>
          <a:p>
            <a:r>
              <a:rPr lang="en-US" dirty="0"/>
              <a:t>Thank you!!</a:t>
            </a:r>
          </a:p>
        </p:txBody>
      </p:sp>
    </p:spTree>
    <p:extLst>
      <p:ext uri="{BB962C8B-B14F-4D97-AF65-F5344CB8AC3E}">
        <p14:creationId xmlns:p14="http://schemas.microsoft.com/office/powerpoint/2010/main" val="1768212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117</TotalTime>
  <Words>414</Words>
  <Application>Microsoft Office PowerPoint</Application>
  <PresentationFormat>Widescreen</PresentationFormat>
  <Paragraphs>52</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SimSun</vt:lpstr>
      <vt:lpstr>Arial</vt:lpstr>
      <vt:lpstr>Bookman Old Style</vt:lpstr>
      <vt:lpstr>Calibri</vt:lpstr>
      <vt:lpstr>Rockwell</vt:lpstr>
      <vt:lpstr>Symbol</vt:lpstr>
      <vt:lpstr>Times New Roman</vt:lpstr>
      <vt:lpstr>Damask</vt:lpstr>
      <vt:lpstr>FARMO</vt:lpstr>
      <vt:lpstr>Outline</vt:lpstr>
      <vt:lpstr>1. Introduction</vt:lpstr>
      <vt:lpstr>2. Aim and scope</vt:lpstr>
      <vt:lpstr>3. Objective</vt:lpstr>
      <vt:lpstr>PREVIOUS AND PROPOSED  SYSTEM</vt:lpstr>
      <vt:lpstr>4. Methodology </vt:lpstr>
      <vt:lpstr>5. Architectural Diagram</vt:lpstr>
      <vt:lpstr>6. E-R Diagram</vt:lpstr>
      <vt:lpstr>7. Use case diagram</vt:lpstr>
      <vt:lpstr>7. Use Case Diagram</vt:lpstr>
      <vt:lpstr>8. Data Flow Diagram</vt:lpstr>
      <vt:lpstr>PowerPoint Presentation</vt:lpstr>
      <vt:lpstr>9. Cost estimation</vt:lpstr>
      <vt:lpstr>10. Project time schedule</vt:lpstr>
      <vt:lpstr>11.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Grocery Delivery System</dc:title>
  <dc:creator>Paul Smith</dc:creator>
  <cp:lastModifiedBy>RO _ BIEE</cp:lastModifiedBy>
  <cp:revision>40</cp:revision>
  <dcterms:created xsi:type="dcterms:W3CDTF">2025-05-08T16:16:05Z</dcterms:created>
  <dcterms:modified xsi:type="dcterms:W3CDTF">2025-11-21T07:26:47Z</dcterms:modified>
</cp:coreProperties>
</file>